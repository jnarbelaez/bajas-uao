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Master" Target="slideMasters/slideMaster1.xml"/><Relationship Id="rId1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r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900000" y="2200000"/>
            <a:ext cx="10392000" cy="1400000"/>
          </a:xfrm>
          <a:prstGeom prst="rect">
            <a:avLst/>
          </a:prstGeom>
        </p:spPr>
        <p:txBody>
          <a:bodyPr anchor="t" wrap="square"/>
          <a:lstStyle/>
          <a:p>
            <a:pPr algn="ctr">
              <a:buNone/>
            </a:pPr>
            <a:r>
              <a:rPr lang="es-CO" sz="4000" b="1" dirty="0">
                <a:solidFill>
                  <a:srgbClr val="E2001A"/>
                </a:solidFill>
                <a:latin typeface="Segoe UI"/>
              </a:rPr>
              <a:t>Dashboard de Bajas de Activos de TI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900000" y="3700000"/>
            <a:ext cx="10392000" cy="900000"/>
          </a:xfrm>
          <a:prstGeom prst="rect">
            <a:avLst/>
          </a:prstGeom>
        </p:spPr>
        <p:txBody>
          <a:bodyPr anchor="t" wrap="square"/>
          <a:lstStyle/>
          <a:p>
            <a:pPr algn="ctr">
              <a:buNone/>
            </a:pPr>
            <a:r>
              <a:rPr lang="es-CO" sz="2000" b="0" dirty="0">
                <a:solidFill>
                  <a:srgbClr val="6B7688"/>
                </a:solidFill>
                <a:latin typeface="Segoe UI"/>
              </a:rPr>
              <a:t>Universidad Autónoma de Occidente · Presentación ejecutiva · 2025–2026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1. Contexto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Área de gestión de activos de Tecnología (TI) de la UAO.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Las bajas de equipos se documentan en informes técnicos (formato DSU-3.1.3-FO15).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Reto: la información estaba dispersa en múltiples PDF, sin vista consolidada.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Solución: un dashboard interactivo alimentado por un pipeline de datos automatizado.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2. Objetivo del proyecto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Centralizar y analizar las bajas de activos tecnológicos.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Responder 7 preguntas de negocio clave de forma visual e interactiva.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Aportar indicadores de calidad para fortalecer la trazabilidad patrimonial.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Entregar una herramienta que el equipo de TI pueda usar y mantener.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3. Los datos en cifras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924 registros de baja en 104 informes técnicos (DITI).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1.322 unidades de activos retiradas de servicio.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Período: enero 2025 – octubre 2026.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18 variables por registro, incluyendo categoría y marca derivadas.</a:t>
            </a:r>
          </a:p>
        </p:txBody>
      </p:sp>
      <p:sp>
        <p:nvSpPr>
          <p:cNvPr id="0" name="r"/>
          <p:cNvSpPr/>
          <p:nvPr/>
        </p:nvSpPr>
        <p:spPr>
          <a:xfrm>
            <a:off x="8792000" y="1500000"/>
            <a:ext cx="2800000" cy="1500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8892000" y="1700000"/>
            <a:ext cx="2600000" cy="700000"/>
          </a:xfrm>
          <a:prstGeom prst="rect">
            <a:avLst/>
          </a:prstGeom>
        </p:spPr>
        <p:txBody>
          <a:bodyPr anchor="t" wrap="square"/>
          <a:lstStyle/>
          <a:p>
            <a:pPr algn="ctr">
              <a:buNone/>
            </a:pPr>
            <a:r>
              <a:rPr lang="es-CO" sz="4400" b="1" dirty="0">
                <a:solidFill>
                  <a:srgbClr val="E2001A"/>
                </a:solidFill>
                <a:latin typeface="Segoe UI"/>
              </a:rPr>
              <a:t>1.322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8892000" y="2550000"/>
            <a:ext cx="2600000" cy="400000"/>
          </a:xfrm>
          <a:prstGeom prst="rect">
            <a:avLst/>
          </a:prstGeom>
        </p:spPr>
        <p:txBody>
          <a:bodyPr anchor="t" wrap="square"/>
          <a:lstStyle/>
          <a:p>
            <a:pPr algn="ctr">
              <a:buNone/>
            </a:pPr>
            <a:r>
              <a:rPr lang="es-CO" sz="1400" b="0" dirty="0">
                <a:solidFill>
                  <a:srgbClr val="6B7688"/>
                </a:solidFill>
                <a:latin typeface="Segoe UI"/>
              </a:rPr>
              <a:t>unidades dadas de baja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4. Qué se da de baja (categorías)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Mouse: 20,7% del total (274 u.) — la categoría líder.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Telefonía IP: 18,8% (249 u.).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Teclados: 16,9% (223 u.).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Computadores: 11,1% (147 u.).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Los periféricos concentran más de la mitad de las bajas.</a:t>
            </a:r>
          </a:p>
        </p:txBody>
      </p:sp>
      <p:sp>
        <p:nvSpPr>
          <p:cNvPr id="0" name="r"/>
          <p:cNvSpPr/>
          <p:nvPr/>
        </p:nvSpPr>
        <p:spPr>
          <a:xfrm>
            <a:off x="8792000" y="1500000"/>
            <a:ext cx="2800000" cy="1500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8892000" y="1700000"/>
            <a:ext cx="2600000" cy="700000"/>
          </a:xfrm>
          <a:prstGeom prst="rect">
            <a:avLst/>
          </a:prstGeom>
        </p:spPr>
        <p:txBody>
          <a:bodyPr anchor="t" wrap="square"/>
          <a:lstStyle/>
          <a:p>
            <a:pPr algn="ctr">
              <a:buNone/>
            </a:pPr>
            <a:r>
              <a:rPr lang="es-CO" sz="4400" b="1" dirty="0">
                <a:solidFill>
                  <a:srgbClr val="E2001A"/>
                </a:solidFill>
                <a:latin typeface="Segoe UI"/>
              </a:rPr>
              <a:t>20,7%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8892000" y="2550000"/>
            <a:ext cx="2600000" cy="400000"/>
          </a:xfrm>
          <a:prstGeom prst="rect">
            <a:avLst/>
          </a:prstGeom>
        </p:spPr>
        <p:txBody>
          <a:bodyPr anchor="t" wrap="square"/>
          <a:lstStyle/>
          <a:p>
            <a:pPr algn="ctr">
              <a:buNone/>
            </a:pPr>
            <a:r>
              <a:rPr lang="es-CO" sz="1400" b="0" dirty="0">
                <a:solidFill>
                  <a:srgbClr val="6B7688"/>
                </a:solidFill>
                <a:latin typeface="Segoe UI"/>
              </a:rPr>
              <a:t>categoría top: Mouse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5. Marcas y evolución anual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Dell concentra el 33,7% de las unidades; Avaya el 11,9%.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2025: 651 unidades · 2026: 671 unidades.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Variación interanual: +3,1% (volumen estable).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Picos de baja: julio 2025 (161 u.) y abril 2026 (135 u.).</a:t>
            </a:r>
          </a:p>
        </p:txBody>
      </p:sp>
      <p:sp>
        <p:nvSpPr>
          <p:cNvPr id="0" name="r"/>
          <p:cNvSpPr/>
          <p:nvPr/>
        </p:nvSpPr>
        <p:spPr>
          <a:xfrm>
            <a:off x="8792000" y="1500000"/>
            <a:ext cx="2800000" cy="1500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8892000" y="1700000"/>
            <a:ext cx="2600000" cy="700000"/>
          </a:xfrm>
          <a:prstGeom prst="rect">
            <a:avLst/>
          </a:prstGeom>
        </p:spPr>
        <p:txBody>
          <a:bodyPr anchor="t" wrap="square"/>
          <a:lstStyle/>
          <a:p>
            <a:pPr algn="ctr">
              <a:buNone/>
            </a:pPr>
            <a:r>
              <a:rPr lang="es-CO" sz="4400" b="1" dirty="0">
                <a:solidFill>
                  <a:srgbClr val="E2001A"/>
                </a:solidFill>
                <a:latin typeface="Segoe UI"/>
              </a:rPr>
              <a:t>+3,1%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8892000" y="2550000"/>
            <a:ext cx="2600000" cy="400000"/>
          </a:xfrm>
          <a:prstGeom prst="rect">
            <a:avLst/>
          </a:prstGeom>
        </p:spPr>
        <p:txBody>
          <a:bodyPr anchor="t" wrap="square"/>
          <a:lstStyle/>
          <a:p>
            <a:pPr algn="ctr">
              <a:buNone/>
            </a:pPr>
            <a:r>
              <a:rPr lang="es-CO" sz="1400" b="0" dirty="0">
                <a:solidFill>
                  <a:srgbClr val="6B7688"/>
                </a:solidFill>
                <a:latin typeface="Segoe UI"/>
              </a:rPr>
              <a:t>variación 2026 vs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6. Calidad de los datos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Score general de calidad: 87,2 / 100 (bueno).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Fortalezas: 0 registros duplicados, 100% de fechas válidas.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Debilidad: 40,4% sin número de inventario y 22,3% sin serie.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5 seriales repetidos a revisar (posibles dobles bajas).</a:t>
            </a:r>
          </a:p>
        </p:txBody>
      </p:sp>
      <p:sp>
        <p:nvSpPr>
          <p:cNvPr id="0" name="r"/>
          <p:cNvSpPr/>
          <p:nvPr/>
        </p:nvSpPr>
        <p:spPr>
          <a:xfrm>
            <a:off x="8792000" y="1500000"/>
            <a:ext cx="2800000" cy="1500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8892000" y="1700000"/>
            <a:ext cx="2600000" cy="700000"/>
          </a:xfrm>
          <a:prstGeom prst="rect">
            <a:avLst/>
          </a:prstGeom>
        </p:spPr>
        <p:txBody>
          <a:bodyPr anchor="t" wrap="square"/>
          <a:lstStyle/>
          <a:p>
            <a:pPr algn="ctr">
              <a:buNone/>
            </a:pPr>
            <a:r>
              <a:rPr lang="es-CO" sz="4400" b="1" dirty="0">
                <a:solidFill>
                  <a:srgbClr val="E2001A"/>
                </a:solidFill>
                <a:latin typeface="Segoe UI"/>
              </a:rPr>
              <a:t>87,2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8892000" y="2550000"/>
            <a:ext cx="2600000" cy="400000"/>
          </a:xfrm>
          <a:prstGeom prst="rect">
            <a:avLst/>
          </a:prstGeom>
        </p:spPr>
        <p:txBody>
          <a:bodyPr anchor="t" wrap="square"/>
          <a:lstStyle/>
          <a:p>
            <a:pPr algn="ctr">
              <a:buNone/>
            </a:pPr>
            <a:r>
              <a:rPr lang="es-CO" sz="1400" b="0" dirty="0">
                <a:solidFill>
                  <a:srgbClr val="6B7688"/>
                </a:solidFill>
                <a:latin typeface="Segoe UI"/>
              </a:rPr>
              <a:t>score de calidad / 100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7. Arquitectura de la solución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Fuentes CSV → Pipeline ETL → Tabla de hechos + KPIs → Dashboard.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ETL modular en Python: Extract, Transform, Validate, Load.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Validación de integridad con 7 checks antes de cargar.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Salida lista para el dashboard web y para Power BI.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8. El dashboard interactivo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3 páginas: Visión general, Detalle operacional y Análisis comparativo.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Filtros globales: rango de fechas, año, categoría, marca y búsqueda.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Drilldowns: del resumen al detalle con un clic.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Tema claro/oscuro, exportación a CSV y diseño profesional UAO.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9. Preguntas de negocio respondidas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¿Cuánto y qué se da de baja? → KPIs y gráficos por categoría.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¿Qué marcas y cómo evoluciona? → treemap y tendencia mensual.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¿Dónde están los picos? → serie temporal y estacionalidad.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¿Qué tan trazable es? → indicadores de calidad en la página 3.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10. Hallazgos para la gestión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Reforzar el registro de serie e inventario en el origen (trazabilidad).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Planear reposiciones anticipando los picos estacionales detectados.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Revisar los seriales duplicados para depurar el inventario.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Oportunidad: incorporar el motivo de baja (Dañado/Obsoleto/Bueno).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11. Roadmap de mejoras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Corto plazo: subir trazabilidad &gt; 90%; añadir campo Estado.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Mediano plazo: automatizar el ETL (scheduler) y publicar en Power BI Service.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Largo plazo: enlazar con el inventario general y el valor contable.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Futuro: modelo predictivo de reposición basado en estacionalidad.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600000" y="450000"/>
            <a:ext cx="10992000" cy="800000"/>
          </a:xfrm>
          <a:prstGeom prst="rect">
            <a:avLst/>
          </a:prstGeom>
        </p:spPr>
        <p:txBody>
          <a:bodyPr anchor="t" wrap="square"/>
          <a:lstStyle/>
          <a:p>
            <a:pPr algn="l">
              <a:buNone/>
            </a:pPr>
            <a:r>
              <a:rPr lang="es-CO" sz="2800" b="1" dirty="0">
                <a:solidFill>
                  <a:srgbClr val="1B2330"/>
                </a:solidFill>
                <a:latin typeface="Segoe UI"/>
              </a:rPr>
              <a:t>12. Conclusión</a:t>
            </a:r>
          </a:p>
        </p:txBody>
      </p:sp>
      <p:sp>
        <p:nvSpPr>
          <p:cNvPr id="0" name="t"/>
          <p:cNvSpPr>
            <a:spLocks noGrp="1"/>
          </p:cNvSpPr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</p:spPr>
        <p:txBody>
          <a:bodyPr anchor="t" wrap="square"/>
          <a:lstStyle/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Proyecto completo: de los datos crudos a un dashboard funcionando.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Pipeline reproducible, documentado y fácil de mantener.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Entrega valor inmediato al administrador de activos de TI.</a:t>
            </a:r>
          </a:p>
          <a:p>
            <a:pPr marL="285750" indent="-285750" algn="l"/>
            <a:r>
              <a:rPr lang="es-CO" sz="1800" b="0" dirty="0">
                <a:solidFill>
                  <a:srgbClr val="1B2330"/>
                </a:solidFill>
                <a:latin typeface="Segoe UI"/>
              </a:rPr>
              <a:t>Base sólida para evolucionar hacia analítica predictiva.</a:t>
            </a:r>
          </a:p>
          <a:p>
            <a:pPr algn="l">
              <a:buNone/>
            </a:pPr>
            <a:r>
              <a:rPr lang="es-CO" sz="1800" b="0" dirty="0">
                <a:solidFill>
                  <a:srgbClr val="1B2330"/>
                </a:solidFill>
                <a:latin typeface="Segoe UI"/>
              </a:rPr>
              <a:t/>
            </a:r>
          </a:p>
          <a:p>
            <a:pPr algn="l">
              <a:buNone/>
            </a:pPr>
            <a:r>
              <a:rPr lang="es-CO" sz="1800" b="0" dirty="0">
                <a:solidFill>
                  <a:srgbClr val="1B2330"/>
                </a:solidFill>
                <a:latin typeface="Segoe UI"/>
              </a:rPr>
              <a:t>Gracias. · Universidad Autónoma de Occidente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UAO">
  <a:themeElements>
    <a:clrScheme name="UAO">
      <a:dk1>
        <a:srgbClr val="1B2330"/>
      </a:dk1>
      <a:lt1>
        <a:srgbClr val="FFFFFF"/>
      </a:lt1>
      <a:dk2>
        <a:srgbClr val="6B7688"/>
      </a:dk2>
      <a:lt2>
        <a:srgbClr val="F4F6FB"/>
      </a:lt2>
      <a:accent1>
        <a:srgbClr val="E2001A"/>
      </a:accent1>
      <a:accent2>
        <a:srgbClr val="2563EB"/>
      </a:accent2>
      <a:accent3>
        <a:srgbClr val="F59E0B"/>
      </a:accent3>
      <a:accent4>
        <a:srgbClr val="10B981"/>
      </a:accent4>
      <a:accent5>
        <a:srgbClr val="8B5CF6"/>
      </a:accent5>
      <a:accent6>
        <a:srgbClr val="06B6D4"/>
      </a:accent6>
      <a:hlink>
        <a:srgbClr val="2563EB"/>
      </a:hlink>
      <a:folHlink>
        <a:srgbClr val="8B5CF6"/>
      </a:folHlink>
    </a:clrScheme>
    <a:fontScheme name="UAO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UA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Entregable 7 - Presentacion Ejecutiva</dc:title>
  <dc:creator>Proyecto Seminario IA</dc:creator>
</cp:coreProperties>
</file>